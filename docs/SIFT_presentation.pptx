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27abeb2-e2d6-8b5d-8c43-ad515931ff97}">
          <p14:sldIdLst>
            <p14:sldId id="256"/>
          </p14:sldIdLst>
        </p14:section>
        <p14:section name="Idea" id="{424f8a36-accb-3397-0aab-0cb2c4908326}">
          <p14:sldIdLst>
            <p14:sldId id="257"/>
          </p14:sldIdLst>
        </p14:section>
        <p14:section name="Approach" id="{31124dfc-e20c-1ed4-b375-d41f266f42fe}">
          <p14:sldIdLst>
            <p14:sldId id="258"/>
            <p14:sldId id="259"/>
          </p14:sldIdLst>
        </p14:section>
        <p14:section name="Viability" id="{91be2ac3-b619-7c48-b042-eb8d0232f76a}">
          <p14:sldIdLst>
            <p14:sldId id="260"/>
          </p14:sldIdLst>
        </p14:section>
        <p14:section name="Impact" id="{29995a27-38ea-056e-f972-2e7a1f9285d6}">
          <p14:sldIdLst>
            <p14:sldId id="261"/>
          </p14:sldIdLst>
        </p14:section>
        <p14:section name="Business" id="{f0599801-3b2b-d390-1af0-755d83c156ec}">
          <p14:sldIdLst>
            <p14:sldId id="262"/>
          </p14:sldIdLst>
        </p14:section>
        <p14:section name="References" id="{15a8586f-328a-e5d8-5f10-90fa2904d36e}">
          <p14:sldIdLst>
            <p14:sldId id="263"/>
          </p14:sldIdLst>
        </p14:section>
        <p14:section name="Close" id="{01f624a0-4e19-fb90-ea64-ac0ab7be0e6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HYPNEXIS_TITLE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HYPNEXIS_CONTENT-image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HYPNEXIS_SECTION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105163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365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058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MANIPAL UNIVERSITY JAIPUR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</a:t>
            </a:r>
            <a:endParaRPr lang="en-US" sz="1200" dirty="0"/>
          </a:p>
        </p:txBody>
      </p:sp>
      <p:pic>
        <p:nvPicPr>
          <p:cNvPr id="4" name="Image 0" descr="HYPNEXIS 26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120640" cy="23302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•  24–25 OCTOBER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INNOVATE / CREATE</a:t>
            </a:r>
            <a:endParaRPr lang="en-US" sz="1200" dirty="0"/>
          </a:p>
        </p:txBody>
      </p:sp>
      <p:sp>
        <p:nvSpPr>
          <p:cNvPr id="7" name="Team details card"/>
          <p:cNvSpPr/>
          <p:nvPr/>
        </p:nvSpPr>
        <p:spPr>
          <a:xfrm>
            <a:off x="6949440" y="13716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22494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2496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H-AI02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237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3191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PS-AI-02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22376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3886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Data-Analyst Agent on Messy Databases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23760" y="4334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DOMAIN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45811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/ NLP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5029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5276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hypnexismuj.com   |   @hypnexis.muj   |   hypnexis2026@muj.manipal.edu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— SQL Intelligence For Tables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</a:t>
            </a:r>
            <a:endParaRPr lang="en-US" sz="1200" dirty="0"/>
          </a:p>
        </p:txBody>
      </p:sp>
      <p:sp>
        <p:nvSpPr>
          <p:cNvPr id="4" name="Problem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Problem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databases are polluted: NULLs, 'N/A' strings, mixed date formats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waste hours writing SQL for ad-hoc questions on live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tools hallucinate table names and fail on messy schemas</a:t>
            </a:r>
            <a:endParaRPr lang="en-US" sz="1400" dirty="0"/>
          </a:p>
        </p:txBody>
      </p:sp>
      <p:sp>
        <p:nvSpPr>
          <p:cNvPr id="7" name="Solution card"/>
          <p:cNvSpPr/>
          <p:nvPr/>
        </p:nvSpPr>
        <p:spPr>
          <a:xfrm>
            <a:off x="6245352" y="16916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Solution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9" name="Solution body"/>
          <p:cNvSpPr txBox="1"/>
          <p:nvPr/>
        </p:nvSpPr>
        <p:spPr>
          <a:xfrm>
            <a:off x="6519672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pipeline: Explore → Generate → Verify → Abstain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Self-repairs SQL on execution failure (up to 3 retries with error feedback)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cleanly rather than returning a confidently wrong answer</a:t>
            </a:r>
            <a:endParaRPr lang="en-US" sz="1400" dirty="0"/>
          </a:p>
        </p:txBody>
      </p:sp>
      <p:sp>
        <p:nvSpPr>
          <p:cNvPr id="10" name="Visual card"/>
          <p:cNvSpPr/>
          <p:nvPr/>
        </p:nvSpPr>
        <p:spPr>
          <a:xfrm>
            <a:off x="6245352" y="46177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Image placeholder text"/>
          <p:cNvSpPr txBox="1"/>
          <p:nvPr/>
        </p:nvSpPr>
        <p:spPr>
          <a:xfrm>
            <a:off x="6245352" y="461772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Pipeline: Explore → Generate → Verify → Abstain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</a:t>
            </a:r>
            <a:endParaRPr lang="en-US" sz="1200" dirty="0"/>
          </a:p>
        </p:txBody>
      </p:sp>
      <p:sp>
        <p:nvSpPr>
          <p:cNvPr id="4" name="Architecture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Arch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6" name="Arch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PRAGMA table_info + DISTINCT samples → compact SchemaInfo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Generate: schema-aware prompt → Qwen2.5-Coder-7B → raw 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thread-timeout execution + NULL-ratio guard on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Abstain: hard-error regex → returns structured 'cannot answer'</a:t>
            </a:r>
            <a:endParaRPr lang="en-US" sz="1400" dirty="0"/>
          </a:p>
        </p:txBody>
      </p:sp>
      <p:sp>
        <p:nvSpPr>
          <p:cNvPr id="7" name="Tech card"/>
          <p:cNvSpPr/>
          <p:nvPr/>
        </p:nvSpPr>
        <p:spPr>
          <a:xfrm>
            <a:off x="6245352" y="16916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ch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9" name="Tech body"/>
          <p:cNvSpPr txBox="1"/>
          <p:nvPr/>
        </p:nvSpPr>
        <p:spPr>
          <a:xfrm>
            <a:off x="6519672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· sqlite3 · threading (timeout isolation)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Qwen2.5-Coder-7B-Instruct via Ollama (fully local, zero cost)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benchmark · python-pptx · reportlab · pytest (37 tests)</a:t>
            </a:r>
            <a:endParaRPr lang="en-US" sz="1400" dirty="0"/>
          </a:p>
        </p:txBody>
      </p:sp>
      <p:sp>
        <p:nvSpPr>
          <p:cNvPr id="10" name="Unique card"/>
          <p:cNvSpPr/>
          <p:nvPr/>
        </p:nvSpPr>
        <p:spPr>
          <a:xfrm>
            <a:off x="6245352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Unique head"/>
          <p:cNvSpPr txBox="1"/>
          <p:nvPr/>
        </p:nvSpPr>
        <p:spPr>
          <a:xfrm>
            <a:off x="6519672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POINTS</a:t>
            </a:r>
            <a:endParaRPr lang="en-US" sz="1500" dirty="0"/>
          </a:p>
        </p:txBody>
      </p:sp>
      <p:sp>
        <p:nvSpPr>
          <p:cNvPr id="12" name="Unique body"/>
          <p:cNvSpPr txBox="1"/>
          <p:nvPr/>
        </p:nvSpPr>
        <p:spPr>
          <a:xfrm>
            <a:off x="6519672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self-repair: error text fed back as prompt context on retry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column quoting, CAST rules, ORDER BY anti-pattern rules baked into prompt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offline — no API key, no cloud, no data egress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WORKFLOW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</a:t>
            </a:r>
            <a:endParaRPr lang="en-US" sz="1200" dirty="0"/>
          </a:p>
        </p:txBody>
      </p:sp>
      <p:sp>
        <p:nvSpPr>
          <p:cNvPr id="4" name="UI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I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UI body"/>
          <p:cNvSpPr txBox="1"/>
          <p:nvPr/>
        </p:nvSpPr>
        <p:spPr>
          <a:xfrm>
            <a:off x="731520" y="22860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python -m src.agent.loop &lt;db&gt; '&lt;question&gt;'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API: loop.run(db_path, question) → RunResult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 with SQL, rows, latency, attempt count</a:t>
            </a:r>
            <a:endParaRPr lang="en-US" sz="1400" dirty="0"/>
          </a:p>
        </p:txBody>
      </p:sp>
      <p:sp>
        <p:nvSpPr>
          <p:cNvPr id="7" name="Flow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Flow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500" dirty="0"/>
          </a:p>
        </p:txBody>
      </p:sp>
      <p:sp>
        <p:nvSpPr>
          <p:cNvPr id="9" name="Flow dot 1"/>
          <p:cNvSpPr/>
          <p:nvPr/>
        </p:nvSpPr>
        <p:spPr>
          <a:xfrm>
            <a:off x="4544568" y="2331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natural-language question about their database</a:t>
            </a:r>
            <a:endParaRPr lang="en-US" sz="1400" dirty="0"/>
          </a:p>
        </p:txBody>
      </p:sp>
      <p:sp>
        <p:nvSpPr>
          <p:cNvPr id="12" name="Flow dot 2"/>
          <p:cNvSpPr/>
          <p:nvPr/>
        </p:nvSpPr>
        <p:spPr>
          <a:xfrm>
            <a:off x="4544568" y="3520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explores the schema, generates SQL, and executes it</a:t>
            </a:r>
            <a:endParaRPr lang="en-US" sz="1400" dirty="0"/>
          </a:p>
        </p:txBody>
      </p:sp>
      <p:sp>
        <p:nvSpPr>
          <p:cNvPr id="15" name="Flow dot 3"/>
          <p:cNvSpPr/>
          <p:nvPr/>
        </p:nvSpPr>
        <p:spPr>
          <a:xfrm>
            <a:off x="4544568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663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answer returned; or a clean abstain with reason</a:t>
            </a:r>
            <a:endParaRPr lang="en-US" sz="1400" dirty="0"/>
          </a:p>
        </p:txBody>
      </p:sp>
      <p:sp>
        <p:nvSpPr>
          <p:cNvPr id="18" name="Goal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9" name="Goal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</a:t>
            </a:r>
            <a:endParaRPr lang="en-US" sz="1500" dirty="0"/>
          </a:p>
        </p:txBody>
      </p:sp>
      <p:sp>
        <p:nvSpPr>
          <p:cNvPr id="20" name="Goal body"/>
          <p:cNvSpPr txBox="1"/>
          <p:nvPr/>
        </p:nvSpPr>
        <p:spPr>
          <a:xfrm>
            <a:off x="8348472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analyst can query any SQLite database in plain English, with guaranteed-safe execution and honest abstention.</a:t>
            </a:r>
            <a:endParaRPr lang="en-US" sz="1400" dirty="0"/>
          </a:p>
        </p:txBody>
      </p:sp>
      <p:sp>
        <p:nvSpPr>
          <p:cNvPr id="21" name="Wireframe placeholder"/>
          <p:cNvSpPr txBox="1"/>
          <p:nvPr/>
        </p:nvSpPr>
        <p:spPr>
          <a:xfrm>
            <a:off x="8348472" y="42062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CLI demo: python -m src.agent.loop california_schools.sqlite 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</a:t>
            </a:r>
            <a:endParaRPr lang="en-US" sz="1200" dirty="0"/>
          </a:p>
        </p:txBody>
      </p:sp>
      <p:sp>
        <p:nvSpPr>
          <p:cNvPr id="4" name="Technical Feasibility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Technical Feasibility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6" name="Technical Feasibility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8 GB VRAM or CPU-only (Qwen 7B quantised)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SQLite: zero risk of data corruption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stages — swap the LLM or verifier independently</a:t>
            </a:r>
            <a:endParaRPr lang="en-US" sz="1400" dirty="0"/>
          </a:p>
        </p:txBody>
      </p:sp>
      <p:sp>
        <p:nvSpPr>
          <p:cNvPr id="7" name="Economic Feasibility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Economic Feasibility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9" name="Economic Feasibility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inference cost: fully local, no API fees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benchmark eval suite included for continuous measurement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larger models (13B / 34B) with same codebase</a:t>
            </a:r>
            <a:endParaRPr lang="en-US" sz="1400" dirty="0"/>
          </a:p>
        </p:txBody>
      </p:sp>
      <p:sp>
        <p:nvSpPr>
          <p:cNvPr id="10" name="Operational Viability card"/>
          <p:cNvSpPr/>
          <p:nvPr/>
        </p:nvSpPr>
        <p:spPr>
          <a:xfrm>
            <a:off x="8083296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Operational Viability head"/>
          <p:cNvSpPr txBox="1"/>
          <p:nvPr/>
        </p:nvSpPr>
        <p:spPr>
          <a:xfrm>
            <a:off x="8357616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VIABILITY</a:t>
            </a:r>
            <a:endParaRPr lang="en-US" sz="1500" dirty="0"/>
          </a:p>
        </p:txBody>
      </p:sp>
      <p:sp>
        <p:nvSpPr>
          <p:cNvPr id="12" name="Operational Viability body"/>
          <p:cNvSpPr txBox="1"/>
          <p:nvPr/>
        </p:nvSpPr>
        <p:spPr>
          <a:xfrm>
            <a:off x="8357616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Thread-timeout prevents hung queries; abstain prevents wrong answers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= 0.60 on 20-question BIRD sample (+25 pts over baseline 0.35)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unit tests cover explore, generate, verify, abstain, and eval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</a:t>
            </a:r>
            <a:endParaRPr lang="en-US" sz="1200" dirty="0"/>
          </a:p>
        </p:txBody>
      </p:sp>
      <p:sp>
        <p:nvSpPr>
          <p:cNvPr id="4" name="Social Impact card"/>
          <p:cNvSpPr/>
          <p:nvPr/>
        </p:nvSpPr>
        <p:spPr>
          <a:xfrm>
            <a:off x="45720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Social Impact badge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ocial Impact head"/>
          <p:cNvSpPr txBox="1"/>
          <p:nvPr/>
        </p:nvSpPr>
        <p:spPr>
          <a:xfrm>
            <a:off x="15544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8" name="Social Impact body"/>
          <p:cNvSpPr txBox="1"/>
          <p:nvPr/>
        </p:nvSpPr>
        <p:spPr>
          <a:xfrm>
            <a:off x="1554480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Democratises data access for non-technical staff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dependency on specialised SQL engineers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faster decisions from live operational databases</a:t>
            </a:r>
            <a:endParaRPr lang="en-US" sz="1400" dirty="0"/>
          </a:p>
        </p:txBody>
      </p:sp>
      <p:sp>
        <p:nvSpPr>
          <p:cNvPr id="9" name="Environmental Impact card"/>
          <p:cNvSpPr/>
          <p:nvPr/>
        </p:nvSpPr>
        <p:spPr>
          <a:xfrm>
            <a:off x="6099048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Environmental Impact badge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Environmental Impact head"/>
          <p:cNvSpPr txBox="1"/>
          <p:nvPr/>
        </p:nvSpPr>
        <p:spPr>
          <a:xfrm>
            <a:off x="7196328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13" name="Environmental Impact body"/>
          <p:cNvSpPr txBox="1"/>
          <p:nvPr/>
        </p:nvSpPr>
        <p:spPr>
          <a:xfrm>
            <a:off x="7196328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local: no cloud compute, no data-centre emissions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model fits a single consumer GPU — minimal energy footprint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round-trips; lower latency and carbon per query</a:t>
            </a:r>
            <a:endParaRPr lang="en-US" sz="1400" dirty="0"/>
          </a:p>
        </p:txBody>
      </p:sp>
      <p:sp>
        <p:nvSpPr>
          <p:cNvPr id="14" name="Technical Impact card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5" name="Technical Impact badge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chnical Impact head"/>
          <p:cNvSpPr txBox="1"/>
          <p:nvPr/>
        </p:nvSpPr>
        <p:spPr>
          <a:xfrm>
            <a:off x="155448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IMPACT</a:t>
            </a:r>
            <a:endParaRPr lang="en-US" sz="1500" dirty="0"/>
          </a:p>
        </p:txBody>
      </p:sp>
      <p:sp>
        <p:nvSpPr>
          <p:cNvPr id="18" name="Technical Impact body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Text-to-SQL robustness on messy real-world schemas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Prompt-engineering techniques for CAST, quoting, ORDER BY anti-patterns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evaluation harness on BIRD benchmark for reproducibility</a:t>
            </a:r>
            <a:endParaRPr lang="en-US" sz="1400" dirty="0"/>
          </a:p>
        </p:txBody>
      </p:sp>
      <p:sp>
        <p:nvSpPr>
          <p:cNvPr id="19" name="Educational Impact card"/>
          <p:cNvSpPr/>
          <p:nvPr/>
        </p:nvSpPr>
        <p:spPr>
          <a:xfrm>
            <a:off x="6099048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0" name="Educational Impact badge"/>
          <p:cNvSpPr/>
          <p:nvPr/>
        </p:nvSpPr>
        <p:spPr>
          <a:xfrm>
            <a:off x="6373368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Educational Impact head"/>
          <p:cNvSpPr txBox="1"/>
          <p:nvPr/>
        </p:nvSpPr>
        <p:spPr>
          <a:xfrm>
            <a:off x="7196328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IMPACT</a:t>
            </a:r>
            <a:endParaRPr lang="en-US" sz="1500" dirty="0"/>
          </a:p>
        </p:txBody>
      </p:sp>
      <p:sp>
        <p:nvSpPr>
          <p:cNvPr id="23" name="Educational Impact body"/>
          <p:cNvSpPr txBox="1"/>
          <p:nvPr/>
        </p:nvSpPr>
        <p:spPr>
          <a:xfrm>
            <a:off x="7196328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schema introspection, LLM prompt design, and evaluation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pipeline for teaching AI-assisted data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 and eval runner serve as learning reference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SUSTAINABILITY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</a:t>
            </a:r>
            <a:endParaRPr lang="en-US" sz="1200" dirty="0"/>
          </a:p>
        </p:txBody>
      </p:sp>
      <p:sp>
        <p:nvSpPr>
          <p:cNvPr id="4" name="Users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sers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6" name="Users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analysts in SMEs with local SQLite / DuckDB databases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 requiring air-gapped data processing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labs running structured experiment logs</a:t>
            </a:r>
            <a:endParaRPr lang="en-US" sz="1400" dirty="0"/>
          </a:p>
        </p:txBody>
      </p:sp>
      <p:sp>
        <p:nvSpPr>
          <p:cNvPr id="7" name="Revenue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Rev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COST MODEL</a:t>
            </a:r>
            <a:endParaRPr lang="en-US" sz="1500" dirty="0"/>
          </a:p>
        </p:txBody>
      </p:sp>
      <p:sp>
        <p:nvSpPr>
          <p:cNvPr id="9" name="Rev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(MIT); professional support tier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licence for on-premise deployment &amp; SLA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Consulting: schema design + prompt fine-tuning packages</a:t>
            </a:r>
            <a:endParaRPr lang="en-US" sz="1400" dirty="0"/>
          </a:p>
        </p:txBody>
      </p:sp>
      <p:sp>
        <p:nvSpPr>
          <p:cNvPr id="10" name="Sustain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Sus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2" name="Sus body"/>
          <p:cNvSpPr txBox="1"/>
          <p:nvPr/>
        </p:nvSpPr>
        <p:spPr>
          <a:xfrm>
            <a:off x="8348472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contributions via GitHub; plugin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design: upgrades free as open-source models improve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leaderboard submissions keep the project visible &amp; benchmarked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</a:t>
            </a:r>
            <a:endParaRPr lang="en-US" sz="1200" dirty="0"/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 &amp; RESEARCH SOURCES</a:t>
            </a:r>
            <a:endParaRPr lang="en-US" sz="1500" dirty="0"/>
          </a:p>
        </p:txBody>
      </p:sp>
      <p:sp>
        <p:nvSpPr>
          <p:cNvPr id="6" name="Ref body"/>
          <p:cNvSpPr txBox="1"/>
          <p:nvPr/>
        </p:nvSpPr>
        <p:spPr>
          <a:xfrm>
            <a:off x="731520" y="237744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'Can LLM Already Serve as a Database Interface?' NeurIPS 2023 (BIRD benchmark)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Team. 'Qwen2.5-Coder Technical Report.' Alibaba Cloud, 2024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local LLM inference engine: https://ollama.ai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python-pptx, reportlab, pytest — open-source Python libraries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3.45 — embedded relational database: https://sqlite.org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PNEXIS 26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754880" cy="21637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  |  H-AI02  |  lambagurtejsingh@gmail.com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/ AN / IMPACT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FFFFFF"/>
      </a:lt1>
      <a:dk2>
        <a:srgbClr val="0B1A4A"/>
      </a:dk2>
      <a:lt2>
        <a:srgbClr val="CFE0FF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4DA3FF"/>
      </a:hlink>
      <a:folHlink>
        <a:srgbClr val="9CC4FF"/>
      </a:folHlink>
    </a:clrScheme>
    <a:fontScheme name="Hypnex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HYPNEXIS 26 - Official Idea Presentation Template</dc:title>
  <dc:subject>PptxGenJS Presentation</dc:subject>
  <dc:creator>PptxGenJS</dc:creator>
  <cp:lastModifiedBy>PptxGenJS</cp:lastModifiedBy>
  <cp:revision>1</cp:revision>
  <dcterms:created xsi:type="dcterms:W3CDTF">2026-10-24T10:35:26Z</dcterms:created>
  <dcterms:modified xsi:type="dcterms:W3CDTF">2026-10-24T10:35:26Z</dcterms:modified>
</cp:coreProperties>
</file>